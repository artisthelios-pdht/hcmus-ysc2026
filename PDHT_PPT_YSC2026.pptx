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Times New Roman Bold" charset="1" panose="02020803070505020304"/>
      <p:regular r:id="rId27"/>
    </p:embeddedFont>
    <p:embeddedFont>
      <p:font typeface="Times New Roman" charset="1" panose="02020603050405020304"/>
      <p:regular r:id="rId28"/>
    </p:embeddedFont>
    <p:embeddedFont>
      <p:font typeface="Aptos Bold" charset="1" panose="020B0004020202020204"/>
      <p:regular r:id="rId29"/>
    </p:embeddedFont>
    <p:embeddedFont>
      <p:font typeface="Aptos" charset="1" panose="020B0004020202020204"/>
      <p:regular r:id="rId30"/>
    </p:embeddedFont>
    <p:embeddedFont>
      <p:font typeface="Noto Sans Italics" charset="1" panose="020B05020405040902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5.png" Type="http://schemas.openxmlformats.org/officeDocument/2006/relationships/image"/><Relationship Id="rId4" Target="../media/image1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descr="A white rectangular frame with green text  AI-generated content may be incorrect."/>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TextBox 4" id="4"/>
          <p:cNvSpPr txBox="true"/>
          <p:nvPr/>
        </p:nvSpPr>
        <p:spPr>
          <a:xfrm rot="0">
            <a:off x="2476424" y="3608232"/>
            <a:ext cx="13335162" cy="2291629"/>
          </a:xfrm>
          <a:prstGeom prst="rect">
            <a:avLst/>
          </a:prstGeom>
        </p:spPr>
        <p:txBody>
          <a:bodyPr anchor="t" rtlCol="false" tIns="0" lIns="0" bIns="0" rIns="0">
            <a:spAutoFit/>
          </a:bodyPr>
          <a:lstStyle/>
          <a:p>
            <a:pPr algn="ctr">
              <a:lnSpc>
                <a:spcPts val="5759"/>
              </a:lnSpc>
            </a:pPr>
            <a:r>
              <a:rPr lang="en-US" sz="4800" b="true">
                <a:solidFill>
                  <a:srgbClr val="000000"/>
                </a:solidFill>
                <a:latin typeface="Times New Roman Bold"/>
                <a:ea typeface="Times New Roman Bold"/>
                <a:cs typeface="Times New Roman Bold"/>
                <a:sym typeface="Times New Roman Bold"/>
              </a:rPr>
              <a:t>Dự Báo Nguy Cơ Bỏ Học Của Sinh Viên Đang Theo Học Dựa Trên Mô Hình Học Máy Và Kỹ Thuật Kiểm Chứng Gián Tiếp</a:t>
            </a:r>
          </a:p>
        </p:txBody>
      </p:sp>
      <p:sp>
        <p:nvSpPr>
          <p:cNvPr name="TextBox 5" id="5"/>
          <p:cNvSpPr txBox="true"/>
          <p:nvPr/>
        </p:nvSpPr>
        <p:spPr>
          <a:xfrm rot="0">
            <a:off x="1669427" y="6801917"/>
            <a:ext cx="14949136" cy="838200"/>
          </a:xfrm>
          <a:prstGeom prst="rect">
            <a:avLst/>
          </a:prstGeom>
        </p:spPr>
        <p:txBody>
          <a:bodyPr anchor="t" rtlCol="false" tIns="0" lIns="0" bIns="0" rIns="0">
            <a:spAutoFit/>
          </a:bodyPr>
          <a:lstStyle/>
          <a:p>
            <a:pPr algn="l">
              <a:lnSpc>
                <a:spcPts val="3240"/>
              </a:lnSpc>
            </a:pPr>
            <a:r>
              <a:rPr lang="en-US" sz="2700" u="sng">
                <a:solidFill>
                  <a:srgbClr val="000000"/>
                </a:solidFill>
                <a:latin typeface="Times New Roman"/>
                <a:ea typeface="Times New Roman"/>
                <a:cs typeface="Times New Roman"/>
                <a:sym typeface="Times New Roman"/>
              </a:rPr>
              <a:t>Tác giả: </a:t>
            </a:r>
            <a:r>
              <a:rPr lang="en-US" sz="2700">
                <a:solidFill>
                  <a:srgbClr val="000000"/>
                </a:solidFill>
                <a:latin typeface="Times New Roman"/>
                <a:ea typeface="Times New Roman"/>
                <a:cs typeface="Times New Roman"/>
                <a:sym typeface="Times New Roman"/>
              </a:rPr>
              <a:t>Phạm Đăng Hoàng Thiên –  Khoa Công Nghệ - Trường Đại học Quản lý và Công nghệ TP.HCM</a:t>
            </a:r>
          </a:p>
          <a:p>
            <a:pPr algn="l">
              <a:lnSpc>
                <a:spcPts val="3240"/>
              </a:lnSpc>
            </a:pPr>
            <a:r>
              <a:rPr lang="en-US" sz="2700">
                <a:solidFill>
                  <a:srgbClr val="000000"/>
                </a:solidFill>
                <a:latin typeface="Times New Roman"/>
                <a:ea typeface="Times New Roman"/>
                <a:cs typeface="Times New Roman"/>
                <a:sym typeface="Times New Roman"/>
              </a:rPr>
              <a:t>             Nguyễn Hoàng Ánh Linh – Khoa Khoa học Liên ngành - Đại học Khoa học Tự nhiên ĐHQG HCM</a:t>
            </a:r>
          </a:p>
        </p:txBody>
      </p:sp>
      <p:sp>
        <p:nvSpPr>
          <p:cNvPr name="TextBox 6" id="6"/>
          <p:cNvSpPr txBox="true"/>
          <p:nvPr/>
        </p:nvSpPr>
        <p:spPr>
          <a:xfrm rot="0">
            <a:off x="5149510" y="6110754"/>
            <a:ext cx="7988970" cy="481613"/>
          </a:xfrm>
          <a:prstGeom prst="rect">
            <a:avLst/>
          </a:prstGeom>
        </p:spPr>
        <p:txBody>
          <a:bodyPr anchor="t" rtlCol="false" tIns="0" lIns="0" bIns="0" rIns="0">
            <a:spAutoFit/>
          </a:bodyPr>
          <a:lstStyle/>
          <a:p>
            <a:pPr algn="ctr">
              <a:lnSpc>
                <a:spcPts val="3240"/>
              </a:lnSpc>
            </a:pPr>
            <a:r>
              <a:rPr lang="en-US" sz="2700" u="sng">
                <a:solidFill>
                  <a:srgbClr val="000000"/>
                </a:solidFill>
                <a:latin typeface="Times New Roman"/>
                <a:ea typeface="Times New Roman"/>
                <a:cs typeface="Times New Roman"/>
                <a:sym typeface="Times New Roman"/>
              </a:rPr>
              <a:t>Tiểu ban: </a:t>
            </a:r>
            <a:r>
              <a:rPr lang="en-US" sz="2700">
                <a:solidFill>
                  <a:srgbClr val="000000"/>
                </a:solidFill>
                <a:latin typeface="Times New Roman"/>
                <a:ea typeface="Times New Roman"/>
                <a:cs typeface="Times New Roman"/>
                <a:sym typeface="Times New Roman"/>
              </a:rPr>
              <a:t>Công nghệ giáo dục và Khoa học liên ngành</a:t>
            </a:r>
          </a:p>
        </p:txBody>
      </p:sp>
      <p:sp>
        <p:nvSpPr>
          <p:cNvPr name="TextBox 7" id="7"/>
          <p:cNvSpPr txBox="true"/>
          <p:nvPr/>
        </p:nvSpPr>
        <p:spPr>
          <a:xfrm rot="0">
            <a:off x="8431320" y="2915736"/>
            <a:ext cx="1425359" cy="629631"/>
          </a:xfrm>
          <a:prstGeom prst="rect">
            <a:avLst/>
          </a:prstGeom>
        </p:spPr>
        <p:txBody>
          <a:bodyPr anchor="t" rtlCol="false" tIns="0" lIns="0" bIns="0" rIns="0">
            <a:spAutoFit/>
          </a:bodyPr>
          <a:lstStyle/>
          <a:p>
            <a:pPr algn="ctr">
              <a:lnSpc>
                <a:spcPts val="4320"/>
              </a:lnSpc>
            </a:pPr>
            <a:r>
              <a:rPr lang="en-US" sz="3600" u="sng">
                <a:solidFill>
                  <a:srgbClr val="000000"/>
                </a:solidFill>
                <a:latin typeface="Times New Roman"/>
                <a:ea typeface="Times New Roman"/>
                <a:cs typeface="Times New Roman"/>
                <a:sym typeface="Times New Roman"/>
              </a:rPr>
              <a:t>Đề Tài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descr="A white rectangular frame with green outline  AI-generated content may be incorrect."/>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TextBox 4" id="4"/>
          <p:cNvSpPr txBox="true"/>
          <p:nvPr/>
        </p:nvSpPr>
        <p:spPr>
          <a:xfrm rot="0">
            <a:off x="1349921" y="2168596"/>
            <a:ext cx="2956246" cy="814302"/>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Đặt vấn đề</a:t>
            </a:r>
          </a:p>
        </p:txBody>
      </p:sp>
      <p:sp>
        <p:nvSpPr>
          <p:cNvPr name="TextBox 5" id="5"/>
          <p:cNvSpPr txBox="true"/>
          <p:nvPr/>
        </p:nvSpPr>
        <p:spPr>
          <a:xfrm rot="0">
            <a:off x="1349921" y="3792874"/>
            <a:ext cx="7101976" cy="3800475"/>
          </a:xfrm>
          <a:prstGeom prst="rect">
            <a:avLst/>
          </a:prstGeom>
        </p:spPr>
        <p:txBody>
          <a:bodyPr anchor="t" rtlCol="false" tIns="0" lIns="0" bIns="0" rIns="0">
            <a:spAutoFit/>
          </a:bodyPr>
          <a:lstStyle/>
          <a:p>
            <a:pPr algn="l">
              <a:lnSpc>
                <a:spcPts val="4320"/>
              </a:lnSpc>
            </a:pPr>
            <a:r>
              <a:rPr lang="en-US" b="true" sz="3600" u="sng">
                <a:solidFill>
                  <a:srgbClr val="000000"/>
                </a:solidFill>
                <a:latin typeface="Aptos Bold"/>
                <a:ea typeface="Aptos Bold"/>
                <a:cs typeface="Aptos Bold"/>
                <a:sym typeface="Aptos Bold"/>
              </a:rPr>
              <a:t>Thách thức lớn: </a:t>
            </a:r>
            <a:r>
              <a:rPr lang="en-US" sz="3600">
                <a:solidFill>
                  <a:srgbClr val="000000"/>
                </a:solidFill>
                <a:latin typeface="Aptos"/>
                <a:ea typeface="Aptos"/>
                <a:cs typeface="Aptos"/>
                <a:sym typeface="Aptos"/>
              </a:rPr>
              <a:t>Tình trạng thôi học ảnh hưởng nghiêm trọng đến hiệu quả đào tạo và sự ổn định học tập.</a:t>
            </a:r>
          </a:p>
          <a:p>
            <a:pPr algn="l">
              <a:lnSpc>
                <a:spcPts val="4320"/>
              </a:lnSpc>
            </a:pPr>
            <a:r>
              <a:rPr lang="en-US" b="true" sz="3600" u="sng">
                <a:solidFill>
                  <a:srgbClr val="000000"/>
                </a:solidFill>
                <a:latin typeface="Aptos Bold"/>
                <a:ea typeface="Aptos Bold"/>
                <a:cs typeface="Aptos Bold"/>
                <a:sym typeface="Aptos Bold"/>
              </a:rPr>
              <a:t>Hậu quả: </a:t>
            </a:r>
            <a:r>
              <a:rPr lang="en-US" sz="3600">
                <a:solidFill>
                  <a:srgbClr val="000000"/>
                </a:solidFill>
                <a:latin typeface="Aptos"/>
                <a:ea typeface="Aptos"/>
                <a:cs typeface="Aptos"/>
                <a:sym typeface="Aptos"/>
              </a:rPr>
              <a:t>Gây lãng phí nguồn lực xã hội, ảnh hưởng đến uy tín và bài toán tài chính của các cơ sở giáo dục đại học.</a:t>
            </a:r>
          </a:p>
        </p:txBody>
      </p:sp>
      <p:graphicFrame>
        <p:nvGraphicFramePr>
          <p:cNvPr name="Table 6" id="6"/>
          <p:cNvGraphicFramePr>
            <a:graphicFrameLocks noGrp="true"/>
          </p:cNvGraphicFramePr>
          <p:nvPr/>
        </p:nvGraphicFramePr>
        <p:xfrm>
          <a:off x="8676823" y="1858529"/>
          <a:ext cx="8864586" cy="7399771"/>
        </p:xfrm>
        <a:graphic>
          <a:graphicData uri="http://schemas.openxmlformats.org/drawingml/2006/table">
            <a:tbl>
              <a:tblPr/>
              <a:tblGrid>
                <a:gridCol w="5557620"/>
                <a:gridCol w="3306966"/>
              </a:tblGrid>
              <a:tr h="1405182">
                <a:tc>
                  <a:txBody>
                    <a:bodyPr anchor="t" rtlCol="false"/>
                    <a:lstStyle/>
                    <a:p>
                      <a:pPr algn="ctr">
                        <a:lnSpc>
                          <a:spcPts val="2520"/>
                        </a:lnSpc>
                        <a:defRPr/>
                      </a:pPr>
                      <a:r>
                        <a:rPr lang="en-US" sz="1800" b="true">
                          <a:solidFill>
                            <a:srgbClr val="000000"/>
                          </a:solidFill>
                          <a:latin typeface="Times New Roman Bold"/>
                          <a:ea typeface="Times New Roman Bold"/>
                          <a:cs typeface="Times New Roman Bold"/>
                          <a:sym typeface="Times New Roman Bold"/>
                        </a:rPr>
                        <a:t>Cơ sở đào tạo</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b="true">
                          <a:solidFill>
                            <a:srgbClr val="000000"/>
                          </a:solidFill>
                          <a:latin typeface="Times New Roman Bold"/>
                          <a:ea typeface="Times New Roman Bold"/>
                          <a:cs typeface="Times New Roman Bold"/>
                          <a:sym typeface="Times New Roman Bold"/>
                        </a:rPr>
                        <a:t>Tỷ lệ bỏ học </a:t>
                      </a:r>
                      <a:endParaRPr lang="en-US" sz="1100"/>
                    </a:p>
                    <a:p>
                      <a:pPr algn="ctr">
                        <a:lnSpc>
                          <a:spcPts val="2520"/>
                        </a:lnSpc>
                      </a:pPr>
                      <a:r>
                        <a:rPr lang="en-US" sz="1800" b="true">
                          <a:solidFill>
                            <a:srgbClr val="000000"/>
                          </a:solidFill>
                          <a:latin typeface="Times New Roman Bold"/>
                          <a:ea typeface="Times New Roman Bold"/>
                          <a:cs typeface="Times New Roman Bold"/>
                          <a:sym typeface="Times New Roman Bold"/>
                        </a:rPr>
                        <a:t>(thôi hoc)</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29393">
                <a:tc>
                  <a:txBody>
                    <a:bodyPr anchor="t" rtlCol="false"/>
                    <a:lstStyle/>
                    <a:p>
                      <a:pPr algn="ctr">
                        <a:lnSpc>
                          <a:spcPts val="2520"/>
                        </a:lnSpc>
                        <a:defRPr/>
                      </a:pPr>
                      <a:r>
                        <a:rPr lang="en-US" sz="1800">
                          <a:solidFill>
                            <a:srgbClr val="000000"/>
                          </a:solidFill>
                          <a:latin typeface="Times New Roman"/>
                          <a:ea typeface="Times New Roman"/>
                          <a:cs typeface="Times New Roman"/>
                          <a:sym typeface="Times New Roman"/>
                        </a:rPr>
                        <a:t>Trường ĐH Công nghệ Sài Gòn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imes New Roman"/>
                          <a:ea typeface="Times New Roman"/>
                          <a:cs typeface="Times New Roman"/>
                          <a:sym typeface="Times New Roman"/>
                        </a:rPr>
                        <a:t>35,93%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66288">
                <a:tc>
                  <a:txBody>
                    <a:bodyPr anchor="t" rtlCol="false"/>
                    <a:lstStyle/>
                    <a:p>
                      <a:pPr algn="ctr">
                        <a:lnSpc>
                          <a:spcPts val="2520"/>
                        </a:lnSpc>
                        <a:defRPr/>
                      </a:pPr>
                      <a:r>
                        <a:rPr lang="en-US" sz="1800">
                          <a:solidFill>
                            <a:srgbClr val="000000"/>
                          </a:solidFill>
                          <a:latin typeface="Times New Roman"/>
                          <a:ea typeface="Times New Roman"/>
                          <a:cs typeface="Times New Roman"/>
                          <a:sym typeface="Times New Roman"/>
                        </a:rPr>
                        <a:t>Trường ĐH Sư Phạm Kỹ Thuật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imes New Roman"/>
                          <a:ea typeface="Times New Roman"/>
                          <a:cs typeface="Times New Roman"/>
                          <a:sym typeface="Times New Roman"/>
                        </a:rPr>
                        <a:t>24,45%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97841">
                <a:tc>
                  <a:txBody>
                    <a:bodyPr anchor="t" rtlCol="false"/>
                    <a:lstStyle/>
                    <a:p>
                      <a:pPr algn="ctr">
                        <a:lnSpc>
                          <a:spcPts val="2520"/>
                        </a:lnSpc>
                        <a:defRPr/>
                      </a:pPr>
                      <a:r>
                        <a:rPr lang="en-US" sz="1800">
                          <a:solidFill>
                            <a:srgbClr val="000000"/>
                          </a:solidFill>
                          <a:latin typeface="Times New Roman"/>
                          <a:ea typeface="Times New Roman"/>
                          <a:cs typeface="Times New Roman"/>
                          <a:sym typeface="Times New Roman"/>
                        </a:rPr>
                        <a:t>Trường ĐH Quốc tế miền Đông</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imes New Roman"/>
                          <a:ea typeface="Times New Roman"/>
                          <a:cs typeface="Times New Roman"/>
                          <a:sym typeface="Times New Roman"/>
                        </a:rPr>
                        <a:t>14.87%</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01067">
                <a:tc>
                  <a:txBody>
                    <a:bodyPr anchor="t" rtlCol="false"/>
                    <a:lstStyle/>
                    <a:p>
                      <a:pPr algn="ctr">
                        <a:lnSpc>
                          <a:spcPts val="2520"/>
                        </a:lnSpc>
                        <a:defRPr/>
                      </a:pPr>
                      <a:r>
                        <a:rPr lang="en-US" sz="1800">
                          <a:solidFill>
                            <a:srgbClr val="000000"/>
                          </a:solidFill>
                          <a:latin typeface="Times New Roman"/>
                          <a:ea typeface="Times New Roman"/>
                          <a:cs typeface="Times New Roman"/>
                          <a:sym typeface="Times New Roman"/>
                        </a:rPr>
                        <a:t>Trường ĐH Khoa học xã hội và nhân văn - ĐHQG HN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520"/>
                        </a:lnSpc>
                        <a:defRPr/>
                      </a:pPr>
                      <a:r>
                        <a:rPr lang="en-US" sz="1800">
                          <a:solidFill>
                            <a:srgbClr val="000000"/>
                          </a:solidFill>
                          <a:latin typeface="Times New Roman"/>
                          <a:ea typeface="Times New Roman"/>
                          <a:cs typeface="Times New Roman"/>
                          <a:sym typeface="Times New Roman"/>
                        </a:rPr>
                        <a:t>10,74%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9567430" y="9380665"/>
            <a:ext cx="7083372" cy="459972"/>
          </a:xfrm>
          <a:prstGeom prst="rect">
            <a:avLst/>
          </a:prstGeom>
        </p:spPr>
        <p:txBody>
          <a:bodyPr anchor="t" rtlCol="false" tIns="0" lIns="0" bIns="0" rIns="0">
            <a:spAutoFit/>
          </a:bodyPr>
          <a:lstStyle/>
          <a:p>
            <a:pPr algn="ctr">
              <a:lnSpc>
                <a:spcPts val="1843"/>
              </a:lnSpc>
            </a:pPr>
            <a:r>
              <a:rPr lang="en-US" sz="1316" i="true">
                <a:solidFill>
                  <a:srgbClr val="000000"/>
                </a:solidFill>
                <a:latin typeface="Noto Sans Italics"/>
                <a:ea typeface="Noto Sans Italics"/>
                <a:cs typeface="Noto Sans Italics"/>
                <a:sym typeface="Noto Sans Italics"/>
              </a:rPr>
              <a:t>Nguồn theo Báo Thanh Niên: </a:t>
            </a:r>
            <a:r>
              <a:rPr lang="en-US" sz="1316" i="true">
                <a:solidFill>
                  <a:srgbClr val="1DABE9"/>
                </a:solidFill>
                <a:latin typeface="Noto Sans Italics"/>
                <a:ea typeface="Noto Sans Italics"/>
                <a:cs typeface="Noto Sans Italics"/>
                <a:sym typeface="Noto Sans Italics"/>
              </a:rPr>
              <a:t>https://thanhnien.vn/ty-le-nhap-hoc-thoi-hoc-tot-nghiep-dh-truong-nao-cao-truong-nao-thap-185251004222232077.htm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Freeform 4" id="4"/>
          <p:cNvSpPr/>
          <p:nvPr/>
        </p:nvSpPr>
        <p:spPr>
          <a:xfrm flipH="false" flipV="false" rot="0">
            <a:off x="11211896" y="2258615"/>
            <a:ext cx="5750538" cy="5769771"/>
          </a:xfrm>
          <a:custGeom>
            <a:avLst/>
            <a:gdLst/>
            <a:ahLst/>
            <a:cxnLst/>
            <a:rect r="r" b="b" t="t" l="l"/>
            <a:pathLst>
              <a:path h="5769771" w="5750538">
                <a:moveTo>
                  <a:pt x="0" y="0"/>
                </a:moveTo>
                <a:lnTo>
                  <a:pt x="5750538" y="0"/>
                </a:lnTo>
                <a:lnTo>
                  <a:pt x="5750538" y="5769770"/>
                </a:lnTo>
                <a:lnTo>
                  <a:pt x="0" y="5769770"/>
                </a:lnTo>
                <a:lnTo>
                  <a:pt x="0" y="0"/>
                </a:lnTo>
                <a:close/>
              </a:path>
            </a:pathLst>
          </a:custGeom>
          <a:blipFill>
            <a:blip r:embed="rId3"/>
            <a:stretch>
              <a:fillRect l="0" t="0" r="0" b="0"/>
            </a:stretch>
          </a:blipFill>
        </p:spPr>
      </p:sp>
      <p:sp>
        <p:nvSpPr>
          <p:cNvPr name="TextBox 5" id="5"/>
          <p:cNvSpPr txBox="true"/>
          <p:nvPr/>
        </p:nvSpPr>
        <p:spPr>
          <a:xfrm rot="0">
            <a:off x="1349921" y="2168596"/>
            <a:ext cx="5361384"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Mục tiêu nghiên cứu</a:t>
            </a:r>
          </a:p>
        </p:txBody>
      </p:sp>
      <p:sp>
        <p:nvSpPr>
          <p:cNvPr name="TextBox 6" id="6"/>
          <p:cNvSpPr txBox="true"/>
          <p:nvPr/>
        </p:nvSpPr>
        <p:spPr>
          <a:xfrm rot="0">
            <a:off x="1349921" y="3786188"/>
            <a:ext cx="9140891" cy="2714625"/>
          </a:xfrm>
          <a:prstGeom prst="rect">
            <a:avLst/>
          </a:prstGeom>
        </p:spPr>
        <p:txBody>
          <a:bodyPr anchor="t" rtlCol="false" tIns="0" lIns="0" bIns="0" rIns="0">
            <a:spAutoFit/>
          </a:bodyPr>
          <a:lstStyle/>
          <a:p>
            <a:pPr algn="l" marL="777240" indent="-388620" lvl="1">
              <a:lnSpc>
                <a:spcPts val="4320"/>
              </a:lnSpc>
              <a:buFont typeface="Arial"/>
              <a:buChar char="•"/>
            </a:pPr>
            <a:r>
              <a:rPr lang="en-US" b="true" sz="3600" u="sng">
                <a:solidFill>
                  <a:srgbClr val="000000"/>
                </a:solidFill>
                <a:latin typeface="Aptos Bold"/>
                <a:ea typeface="Aptos Bold"/>
                <a:cs typeface="Aptos Bold"/>
                <a:sym typeface="Aptos Bold"/>
              </a:rPr>
              <a:t>Mụ</a:t>
            </a:r>
            <a:r>
              <a:rPr lang="en-US" b="true" sz="3600" u="sng">
                <a:solidFill>
                  <a:srgbClr val="000000"/>
                </a:solidFill>
                <a:latin typeface="Aptos Bold"/>
                <a:ea typeface="Aptos Bold"/>
                <a:cs typeface="Aptos Bold"/>
                <a:sym typeface="Aptos Bold"/>
              </a:rPr>
              <a:t>c tiêu cốt lõi: </a:t>
            </a:r>
            <a:r>
              <a:rPr lang="en-US" sz="3600">
                <a:solidFill>
                  <a:srgbClr val="000000"/>
                </a:solidFill>
                <a:latin typeface="Aptos"/>
                <a:ea typeface="Aptos"/>
                <a:cs typeface="Aptos"/>
                <a:sym typeface="Aptos"/>
              </a:rPr>
              <a:t>Phát triển hệ thống Cảnh báo sớm dựa trên hồ sơ đa chiều.</a:t>
            </a:r>
          </a:p>
          <a:p>
            <a:pPr algn="l">
              <a:lnSpc>
                <a:spcPts val="4320"/>
              </a:lnSpc>
            </a:pPr>
            <a:r>
              <a:rPr lang="en-US" sz="3600">
                <a:solidFill>
                  <a:srgbClr val="000000"/>
                </a:solidFill>
                <a:latin typeface="Aptos"/>
                <a:ea typeface="Aptos"/>
                <a:cs typeface="Aptos"/>
                <a:sym typeface="Aptos"/>
              </a:rPr>
              <a:t>Tối ưu hóa thuật toán dự báo riêng cho nhóm Đang theo học - nhóm đối tượng chưa có nhãn kết quả cuối cùng trong dữ liệu thực tế.</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descr="A white rectangular frame with green outline  AI-generated content may be incorrect."/>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Freeform 4" id="4"/>
          <p:cNvSpPr/>
          <p:nvPr/>
        </p:nvSpPr>
        <p:spPr>
          <a:xfrm flipH="false" flipV="false" rot="0">
            <a:off x="11328672" y="5143500"/>
            <a:ext cx="5930628" cy="3052529"/>
          </a:xfrm>
          <a:custGeom>
            <a:avLst/>
            <a:gdLst/>
            <a:ahLst/>
            <a:cxnLst/>
            <a:rect r="r" b="b" t="t" l="l"/>
            <a:pathLst>
              <a:path h="3052529" w="5930628">
                <a:moveTo>
                  <a:pt x="0" y="0"/>
                </a:moveTo>
                <a:lnTo>
                  <a:pt x="5930628" y="0"/>
                </a:lnTo>
                <a:lnTo>
                  <a:pt x="5930628" y="3052529"/>
                </a:lnTo>
                <a:lnTo>
                  <a:pt x="0" y="3052529"/>
                </a:lnTo>
                <a:lnTo>
                  <a:pt x="0" y="0"/>
                </a:lnTo>
                <a:close/>
              </a:path>
            </a:pathLst>
          </a:custGeom>
          <a:blipFill>
            <a:blip r:embed="rId3"/>
            <a:stretch>
              <a:fillRect l="0" t="0" r="0" b="0"/>
            </a:stretch>
          </a:blipFill>
        </p:spPr>
      </p:sp>
      <p:sp>
        <p:nvSpPr>
          <p:cNvPr name="Freeform 5" id="5"/>
          <p:cNvSpPr/>
          <p:nvPr/>
        </p:nvSpPr>
        <p:spPr>
          <a:xfrm flipH="false" flipV="false" rot="0">
            <a:off x="8340789" y="1331003"/>
            <a:ext cx="8918511" cy="3166072"/>
          </a:xfrm>
          <a:custGeom>
            <a:avLst/>
            <a:gdLst/>
            <a:ahLst/>
            <a:cxnLst/>
            <a:rect r="r" b="b" t="t" l="l"/>
            <a:pathLst>
              <a:path h="3166072" w="8918511">
                <a:moveTo>
                  <a:pt x="0" y="0"/>
                </a:moveTo>
                <a:lnTo>
                  <a:pt x="8918511" y="0"/>
                </a:lnTo>
                <a:lnTo>
                  <a:pt x="8918511" y="3166071"/>
                </a:lnTo>
                <a:lnTo>
                  <a:pt x="0" y="3166071"/>
                </a:lnTo>
                <a:lnTo>
                  <a:pt x="0" y="0"/>
                </a:lnTo>
                <a:close/>
              </a:path>
            </a:pathLst>
          </a:custGeom>
          <a:blipFill>
            <a:blip r:embed="rId4"/>
            <a:stretch>
              <a:fillRect l="0" t="0" r="0" b="0"/>
            </a:stretch>
          </a:blipFill>
        </p:spPr>
      </p:sp>
      <p:sp>
        <p:nvSpPr>
          <p:cNvPr name="TextBox 6" id="6"/>
          <p:cNvSpPr txBox="true"/>
          <p:nvPr/>
        </p:nvSpPr>
        <p:spPr>
          <a:xfrm rot="0">
            <a:off x="1028700" y="2161563"/>
            <a:ext cx="5125938"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Tổng quan Dữ Liệu</a:t>
            </a:r>
          </a:p>
        </p:txBody>
      </p:sp>
      <p:sp>
        <p:nvSpPr>
          <p:cNvPr name="TextBox 7" id="7"/>
          <p:cNvSpPr txBox="true"/>
          <p:nvPr/>
        </p:nvSpPr>
        <p:spPr>
          <a:xfrm rot="0">
            <a:off x="1028700" y="4880469"/>
            <a:ext cx="8569909" cy="3257550"/>
          </a:xfrm>
          <a:prstGeom prst="rect">
            <a:avLst/>
          </a:prstGeom>
        </p:spPr>
        <p:txBody>
          <a:bodyPr anchor="t" rtlCol="false" tIns="0" lIns="0" bIns="0" rIns="0">
            <a:spAutoFit/>
          </a:bodyPr>
          <a:lstStyle/>
          <a:p>
            <a:pPr algn="l">
              <a:lnSpc>
                <a:spcPts val="4320"/>
              </a:lnSpc>
            </a:pPr>
            <a:r>
              <a:rPr lang="en-US" b="true" sz="3600" u="sng">
                <a:solidFill>
                  <a:srgbClr val="000000"/>
                </a:solidFill>
                <a:latin typeface="Aptos Bold"/>
                <a:ea typeface="Aptos Bold"/>
                <a:cs typeface="Aptos Bold"/>
                <a:sym typeface="Aptos Bold"/>
              </a:rPr>
              <a:t>Tập dữ liệu: </a:t>
            </a:r>
            <a:r>
              <a:rPr lang="en-US" sz="3600">
                <a:solidFill>
                  <a:srgbClr val="000000"/>
                </a:solidFill>
                <a:latin typeface="Aptos"/>
                <a:ea typeface="Aptos"/>
                <a:cs typeface="Aptos"/>
                <a:sym typeface="Aptos"/>
              </a:rPr>
              <a:t>36 thuộc tính (nổi bật: Tiến độ học thuật &amp; Tình trạng tài chính).</a:t>
            </a:r>
          </a:p>
          <a:p>
            <a:pPr algn="l">
              <a:lnSpc>
                <a:spcPts val="4320"/>
              </a:lnSpc>
            </a:pPr>
            <a:r>
              <a:rPr lang="en-US" b="true" sz="3600" u="sng">
                <a:solidFill>
                  <a:srgbClr val="000000"/>
                </a:solidFill>
                <a:latin typeface="Aptos Bold"/>
                <a:ea typeface="Aptos Bold"/>
                <a:cs typeface="Aptos Bold"/>
                <a:sym typeface="Aptos Bold"/>
              </a:rPr>
              <a:t>Phân lớp mục tiêu (Target):</a:t>
            </a:r>
          </a:p>
          <a:p>
            <a:pPr algn="l" marL="777240" indent="-388620" lvl="1">
              <a:lnSpc>
                <a:spcPts val="4320"/>
              </a:lnSpc>
              <a:buFont typeface="Arial"/>
              <a:buChar char="•"/>
            </a:pPr>
            <a:r>
              <a:rPr lang="en-US" sz="3600">
                <a:solidFill>
                  <a:srgbClr val="000000"/>
                </a:solidFill>
                <a:latin typeface="Aptos"/>
                <a:ea typeface="Aptos"/>
                <a:cs typeface="Aptos"/>
                <a:sym typeface="Aptos"/>
              </a:rPr>
              <a:t>Dropout (Bỏ học)</a:t>
            </a:r>
          </a:p>
          <a:p>
            <a:pPr algn="l" marL="777240" indent="-388620" lvl="1">
              <a:lnSpc>
                <a:spcPts val="4320"/>
              </a:lnSpc>
              <a:buFont typeface="Arial"/>
              <a:buChar char="•"/>
            </a:pPr>
            <a:r>
              <a:rPr lang="en-US" sz="3600">
                <a:solidFill>
                  <a:srgbClr val="000000"/>
                </a:solidFill>
                <a:latin typeface="Aptos"/>
                <a:ea typeface="Aptos"/>
                <a:cs typeface="Aptos"/>
                <a:sym typeface="Aptos"/>
              </a:rPr>
              <a:t>Graduate (Tốt nghiệp)</a:t>
            </a:r>
          </a:p>
          <a:p>
            <a:pPr algn="l" marL="777240" indent="-388620" lvl="1">
              <a:lnSpc>
                <a:spcPts val="4320"/>
              </a:lnSpc>
              <a:buFont typeface="Arial"/>
              <a:buChar char="•"/>
            </a:pPr>
            <a:r>
              <a:rPr lang="en-US" sz="3600">
                <a:solidFill>
                  <a:srgbClr val="000000"/>
                </a:solidFill>
                <a:latin typeface="Aptos"/>
                <a:ea typeface="Aptos"/>
                <a:cs typeface="Aptos"/>
                <a:sym typeface="Aptos"/>
              </a:rPr>
              <a:t>Enrolled (Đang theo học)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TextBox 4" id="4"/>
          <p:cNvSpPr txBox="true"/>
          <p:nvPr/>
        </p:nvSpPr>
        <p:spPr>
          <a:xfrm rot="0">
            <a:off x="2680408" y="3758575"/>
            <a:ext cx="12927212" cy="2743200"/>
          </a:xfrm>
          <a:prstGeom prst="rect">
            <a:avLst/>
          </a:prstGeom>
        </p:spPr>
        <p:txBody>
          <a:bodyPr anchor="t" rtlCol="false" tIns="0" lIns="0" bIns="0" rIns="0">
            <a:spAutoFit/>
          </a:bodyPr>
          <a:lstStyle/>
          <a:p>
            <a:pPr algn="l">
              <a:lnSpc>
                <a:spcPts val="4320"/>
              </a:lnSpc>
            </a:pPr>
            <a:r>
              <a:rPr lang="en-US" sz="3600">
                <a:solidFill>
                  <a:srgbClr val="000000"/>
                </a:solidFill>
                <a:latin typeface="Times New Roman"/>
                <a:ea typeface="Times New Roman"/>
                <a:cs typeface="Times New Roman"/>
                <a:sym typeface="Times New Roman"/>
              </a:rPr>
              <a:t>Sử</a:t>
            </a:r>
            <a:r>
              <a:rPr lang="en-US" sz="3600">
                <a:solidFill>
                  <a:srgbClr val="000000"/>
                </a:solidFill>
                <a:latin typeface="Times New Roman"/>
                <a:ea typeface="Times New Roman"/>
                <a:cs typeface="Times New Roman"/>
                <a:sym typeface="Times New Roman"/>
              </a:rPr>
              <a:t> dụng hệ thống đường ống (Pipeline) để tự động hóa và chuẩn hóa.</a:t>
            </a:r>
          </a:p>
          <a:p>
            <a:pPr algn="l">
              <a:lnSpc>
                <a:spcPts val="4320"/>
              </a:lnSpc>
            </a:pPr>
            <a:r>
              <a:rPr lang="en-US" sz="3600">
                <a:solidFill>
                  <a:srgbClr val="000000"/>
                </a:solidFill>
                <a:latin typeface="Times New Roman"/>
                <a:ea typeface="Times New Roman"/>
                <a:cs typeface="Times New Roman"/>
                <a:sym typeface="Times New Roman"/>
              </a:rPr>
              <a:t>3 bước cốt lõi:</a:t>
            </a:r>
          </a:p>
          <a:p>
            <a:pPr algn="l" marL="777240" indent="-388620" lvl="1">
              <a:lnSpc>
                <a:spcPts val="4320"/>
              </a:lnSpc>
              <a:buAutoNum type="arabicPeriod" startAt="1"/>
            </a:pPr>
            <a:r>
              <a:rPr lang="en-US" sz="3600">
                <a:solidFill>
                  <a:srgbClr val="000000"/>
                </a:solidFill>
                <a:latin typeface="Times New Roman"/>
                <a:ea typeface="Times New Roman"/>
                <a:cs typeface="Times New Roman"/>
                <a:sym typeface="Times New Roman"/>
              </a:rPr>
              <a:t>SimpleImputer: Xử lý dữ liệu khuyết thiếu.</a:t>
            </a:r>
          </a:p>
          <a:p>
            <a:pPr algn="l" marL="777240" indent="-388620" lvl="1">
              <a:lnSpc>
                <a:spcPts val="4320"/>
              </a:lnSpc>
              <a:buAutoNum type="arabicPeriod" startAt="1"/>
            </a:pPr>
            <a:r>
              <a:rPr lang="en-US" sz="3600">
                <a:solidFill>
                  <a:srgbClr val="000000"/>
                </a:solidFill>
                <a:latin typeface="Times New Roman"/>
                <a:ea typeface="Times New Roman"/>
                <a:cs typeface="Times New Roman"/>
                <a:sym typeface="Times New Roman"/>
              </a:rPr>
              <a:t>StandardScaler: Chuẩn hóa các biến số thực (Numeric).</a:t>
            </a:r>
          </a:p>
          <a:p>
            <a:pPr algn="l" marL="777240" indent="-388620" lvl="1">
              <a:lnSpc>
                <a:spcPts val="4320"/>
              </a:lnSpc>
              <a:buAutoNum type="arabicPeriod" startAt="1"/>
            </a:pPr>
            <a:r>
              <a:rPr lang="en-US" sz="3600">
                <a:solidFill>
                  <a:srgbClr val="000000"/>
                </a:solidFill>
                <a:latin typeface="Times New Roman"/>
                <a:ea typeface="Times New Roman"/>
                <a:cs typeface="Times New Roman"/>
                <a:sym typeface="Times New Roman"/>
              </a:rPr>
              <a:t>OneHotEncoder: Mã hóa các biến phân loại (Categorical).</a:t>
            </a:r>
          </a:p>
        </p:txBody>
      </p:sp>
      <p:sp>
        <p:nvSpPr>
          <p:cNvPr name="TextBox 5" id="5"/>
          <p:cNvSpPr txBox="true"/>
          <p:nvPr/>
        </p:nvSpPr>
        <p:spPr>
          <a:xfrm rot="0">
            <a:off x="1349921" y="2168596"/>
            <a:ext cx="7833420"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Quy trình tiền xử lý (Pipeline)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descr="A white rectangular frame with green outline  AI-generated content may be incorrect."/>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TextBox 4" id="4"/>
          <p:cNvSpPr txBox="true"/>
          <p:nvPr/>
        </p:nvSpPr>
        <p:spPr>
          <a:xfrm rot="0">
            <a:off x="1028700" y="2161563"/>
            <a:ext cx="5192613"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Quá trình thực hiện</a:t>
            </a:r>
          </a:p>
        </p:txBody>
      </p:sp>
      <p:sp>
        <p:nvSpPr>
          <p:cNvPr name="TextBox 5" id="5"/>
          <p:cNvSpPr txBox="true"/>
          <p:nvPr/>
        </p:nvSpPr>
        <p:spPr>
          <a:xfrm rot="0">
            <a:off x="2932636" y="3835536"/>
            <a:ext cx="12403678" cy="3735932"/>
          </a:xfrm>
          <a:prstGeom prst="rect">
            <a:avLst/>
          </a:prstGeom>
        </p:spPr>
        <p:txBody>
          <a:bodyPr anchor="t" rtlCol="false" tIns="0" lIns="0" bIns="0" rIns="0">
            <a:spAutoFit/>
          </a:bodyPr>
          <a:lstStyle/>
          <a:p>
            <a:pPr algn="l">
              <a:lnSpc>
                <a:spcPts val="4916"/>
              </a:lnSpc>
            </a:pPr>
            <a:r>
              <a:rPr lang="en-US" sz="4097">
                <a:solidFill>
                  <a:srgbClr val="000000"/>
                </a:solidFill>
                <a:latin typeface="Times New Roman"/>
                <a:ea typeface="Times New Roman"/>
                <a:cs typeface="Times New Roman"/>
                <a:sym typeface="Times New Roman"/>
              </a:rPr>
              <a:t>Chia tập dữ liệu thành 80-20:</a:t>
            </a:r>
          </a:p>
          <a:p>
            <a:pPr algn="l" marL="884562" indent="-442281" lvl="1">
              <a:lnSpc>
                <a:spcPts val="4916"/>
              </a:lnSpc>
              <a:buFont typeface="Arial"/>
              <a:buChar char="•"/>
            </a:pPr>
            <a:r>
              <a:rPr lang="en-US" sz="4097">
                <a:solidFill>
                  <a:srgbClr val="000000"/>
                </a:solidFill>
                <a:latin typeface="Times New Roman"/>
                <a:ea typeface="Times New Roman"/>
                <a:cs typeface="Times New Roman"/>
                <a:sym typeface="Times New Roman"/>
              </a:rPr>
              <a:t>80%  dữ liệu dùng huấn luyện các mô hình học máy.</a:t>
            </a:r>
          </a:p>
          <a:p>
            <a:pPr algn="l" marL="884562" indent="-442281" lvl="1">
              <a:lnSpc>
                <a:spcPts val="4916"/>
              </a:lnSpc>
              <a:buFont typeface="Arial"/>
              <a:buChar char="•"/>
            </a:pPr>
            <a:r>
              <a:rPr lang="en-US" sz="4097">
                <a:solidFill>
                  <a:srgbClr val="000000"/>
                </a:solidFill>
                <a:latin typeface="Times New Roman"/>
                <a:ea typeface="Times New Roman"/>
                <a:cs typeface="Times New Roman"/>
                <a:sym typeface="Times New Roman"/>
              </a:rPr>
              <a:t>20% dữ liệu để đo lường khả năng dự đoán thực tế của mô hình.</a:t>
            </a:r>
          </a:p>
          <a:p>
            <a:pPr algn="l">
              <a:lnSpc>
                <a:spcPts val="4916"/>
              </a:lnSpc>
            </a:pPr>
            <a:r>
              <a:rPr lang="en-US" sz="4097">
                <a:solidFill>
                  <a:srgbClr val="000000"/>
                </a:solidFill>
                <a:latin typeface="Times New Roman"/>
                <a:ea typeface="Times New Roman"/>
                <a:cs typeface="Times New Roman"/>
                <a:sym typeface="Times New Roman"/>
              </a:rPr>
              <a:t>Tham số stratify=y: đảm bảo sự cân bằng về tỷ lệ nhãn khi chia tách bộ dữ liệu</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TextBox 4" id="4"/>
          <p:cNvSpPr txBox="true"/>
          <p:nvPr/>
        </p:nvSpPr>
        <p:spPr>
          <a:xfrm rot="0">
            <a:off x="1028700" y="2161563"/>
            <a:ext cx="5192613"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Quá trình thực hiện</a:t>
            </a:r>
          </a:p>
        </p:txBody>
      </p:sp>
      <p:sp>
        <p:nvSpPr>
          <p:cNvPr name="TextBox 5" id="5"/>
          <p:cNvSpPr txBox="true"/>
          <p:nvPr/>
        </p:nvSpPr>
        <p:spPr>
          <a:xfrm rot="0">
            <a:off x="2942161" y="3835536"/>
            <a:ext cx="12403678" cy="3743325"/>
          </a:xfrm>
          <a:prstGeom prst="rect">
            <a:avLst/>
          </a:prstGeom>
        </p:spPr>
        <p:txBody>
          <a:bodyPr anchor="t" rtlCol="false" tIns="0" lIns="0" bIns="0" rIns="0">
            <a:spAutoFit/>
          </a:bodyPr>
          <a:lstStyle/>
          <a:p>
            <a:pPr algn="l">
              <a:lnSpc>
                <a:spcPts val="4916"/>
              </a:lnSpc>
            </a:pPr>
            <a:r>
              <a:rPr lang="en-US" sz="4097" u="sng" b="true">
                <a:solidFill>
                  <a:srgbClr val="000000"/>
                </a:solidFill>
                <a:latin typeface="Times New Roman Bold"/>
                <a:ea typeface="Times New Roman Bold"/>
                <a:cs typeface="Times New Roman Bold"/>
                <a:sym typeface="Times New Roman Bold"/>
              </a:rPr>
              <a:t>Huấn luyện 3 mô hình:</a:t>
            </a:r>
            <a:r>
              <a:rPr lang="en-US" sz="4097" b="true">
                <a:solidFill>
                  <a:srgbClr val="000000"/>
                </a:solidFill>
                <a:latin typeface="Times New Roman Bold"/>
                <a:ea typeface="Times New Roman Bold"/>
                <a:cs typeface="Times New Roman Bold"/>
                <a:sym typeface="Times New Roman Bold"/>
              </a:rPr>
              <a:t> </a:t>
            </a:r>
            <a:r>
              <a:rPr lang="en-US" sz="4097">
                <a:solidFill>
                  <a:srgbClr val="000000"/>
                </a:solidFill>
                <a:latin typeface="Times New Roman"/>
                <a:ea typeface="Times New Roman"/>
                <a:cs typeface="Times New Roman"/>
                <a:sym typeface="Times New Roman"/>
              </a:rPr>
              <a:t>Các dữ liệu sau</a:t>
            </a:r>
            <a:r>
              <a:rPr lang="en-US" sz="4097">
                <a:solidFill>
                  <a:srgbClr val="000000"/>
                </a:solidFill>
                <a:latin typeface="Times New Roman"/>
                <a:ea typeface="Times New Roman"/>
                <a:cs typeface="Times New Roman"/>
                <a:sym typeface="Times New Roman"/>
              </a:rPr>
              <a:t> xử lý để sẽ được đưa vào huấn luyện trên 3 thuật toán: Logistic Regression, Random Forest và XGBoost. </a:t>
            </a:r>
          </a:p>
          <a:p>
            <a:pPr algn="l">
              <a:lnSpc>
                <a:spcPts val="4916"/>
              </a:lnSpc>
            </a:pPr>
            <a:r>
              <a:rPr lang="en-US" sz="4097">
                <a:solidFill>
                  <a:srgbClr val="000000"/>
                </a:solidFill>
                <a:latin typeface="Times New Roman"/>
                <a:ea typeface="Times New Roman"/>
                <a:cs typeface="Times New Roman"/>
                <a:sym typeface="Times New Roman"/>
              </a:rPr>
              <a:t>Các mô hình được huấn luyện trên tập Train và sau đó dự đoán xác suất trên tập Test với ngưỡng phân loại mặc định là 0.5 để đánh giá hiệu năng.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descr="A white rectangular frame with green outline  AI-generated content may be incorrect."/>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Freeform 4" id="4"/>
          <p:cNvSpPr/>
          <p:nvPr/>
        </p:nvSpPr>
        <p:spPr>
          <a:xfrm flipH="false" flipV="false" rot="0">
            <a:off x="2824483" y="1752600"/>
            <a:ext cx="14745345" cy="8165235"/>
          </a:xfrm>
          <a:custGeom>
            <a:avLst/>
            <a:gdLst/>
            <a:ahLst/>
            <a:cxnLst/>
            <a:rect r="r" b="b" t="t" l="l"/>
            <a:pathLst>
              <a:path h="8165235" w="14745345">
                <a:moveTo>
                  <a:pt x="0" y="0"/>
                </a:moveTo>
                <a:lnTo>
                  <a:pt x="14745344" y="0"/>
                </a:lnTo>
                <a:lnTo>
                  <a:pt x="14745344" y="8165235"/>
                </a:lnTo>
                <a:lnTo>
                  <a:pt x="0" y="8165235"/>
                </a:lnTo>
                <a:lnTo>
                  <a:pt x="0" y="0"/>
                </a:lnTo>
                <a:close/>
              </a:path>
            </a:pathLst>
          </a:custGeom>
          <a:blipFill>
            <a:blip r:embed="rId3"/>
            <a:stretch>
              <a:fillRect l="0" t="0" r="0" b="0"/>
            </a:stretch>
          </a:blipFill>
        </p:spPr>
      </p:sp>
      <p:sp>
        <p:nvSpPr>
          <p:cNvPr name="TextBox 5" id="5"/>
          <p:cNvSpPr txBox="true"/>
          <p:nvPr/>
        </p:nvSpPr>
        <p:spPr>
          <a:xfrm rot="0">
            <a:off x="547965" y="1194491"/>
            <a:ext cx="7248227"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Tổng kết chỉ số các mô hình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Freeform 4" id="4"/>
          <p:cNvSpPr/>
          <p:nvPr/>
        </p:nvSpPr>
        <p:spPr>
          <a:xfrm flipH="false" flipV="false" rot="0">
            <a:off x="6253297" y="1233730"/>
            <a:ext cx="11266538" cy="8618902"/>
          </a:xfrm>
          <a:custGeom>
            <a:avLst/>
            <a:gdLst/>
            <a:ahLst/>
            <a:cxnLst/>
            <a:rect r="r" b="b" t="t" l="l"/>
            <a:pathLst>
              <a:path h="8618902" w="11266538">
                <a:moveTo>
                  <a:pt x="0" y="0"/>
                </a:moveTo>
                <a:lnTo>
                  <a:pt x="11266538" y="0"/>
                </a:lnTo>
                <a:lnTo>
                  <a:pt x="11266538" y="8618902"/>
                </a:lnTo>
                <a:lnTo>
                  <a:pt x="0" y="8618902"/>
                </a:lnTo>
                <a:lnTo>
                  <a:pt x="0" y="0"/>
                </a:lnTo>
                <a:close/>
              </a:path>
            </a:pathLst>
          </a:custGeom>
          <a:blipFill>
            <a:blip r:embed="rId3"/>
            <a:stretch>
              <a:fillRect l="0" t="0" r="0" b="0"/>
            </a:stretch>
          </a:blipFill>
        </p:spPr>
      </p:sp>
      <p:sp>
        <p:nvSpPr>
          <p:cNvPr name="TextBox 5" id="5"/>
          <p:cNvSpPr txBox="true"/>
          <p:nvPr/>
        </p:nvSpPr>
        <p:spPr>
          <a:xfrm rot="0">
            <a:off x="1028700" y="1641528"/>
            <a:ext cx="4348676" cy="22002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Tầm quan trọng của từng biến độc lập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descr="A white rectangular frame with green outline  AI-generated content may be incorrect."/>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Freeform 4" id="4"/>
          <p:cNvSpPr/>
          <p:nvPr/>
        </p:nvSpPr>
        <p:spPr>
          <a:xfrm flipH="false" flipV="false" rot="0">
            <a:off x="3217954" y="2200371"/>
            <a:ext cx="11852093" cy="7568408"/>
          </a:xfrm>
          <a:custGeom>
            <a:avLst/>
            <a:gdLst/>
            <a:ahLst/>
            <a:cxnLst/>
            <a:rect r="r" b="b" t="t" l="l"/>
            <a:pathLst>
              <a:path h="7568408" w="11852093">
                <a:moveTo>
                  <a:pt x="0" y="0"/>
                </a:moveTo>
                <a:lnTo>
                  <a:pt x="11852092" y="0"/>
                </a:lnTo>
                <a:lnTo>
                  <a:pt x="11852092" y="7568407"/>
                </a:lnTo>
                <a:lnTo>
                  <a:pt x="0" y="7568407"/>
                </a:lnTo>
                <a:lnTo>
                  <a:pt x="0" y="0"/>
                </a:lnTo>
                <a:close/>
              </a:path>
            </a:pathLst>
          </a:custGeom>
          <a:blipFill>
            <a:blip r:embed="rId3"/>
            <a:stretch>
              <a:fillRect l="0" t="0" r="0" b="0"/>
            </a:stretch>
          </a:blipFill>
        </p:spPr>
      </p:sp>
      <p:sp>
        <p:nvSpPr>
          <p:cNvPr name="TextBox 5" id="5"/>
          <p:cNvSpPr txBox="true"/>
          <p:nvPr/>
        </p:nvSpPr>
        <p:spPr>
          <a:xfrm rot="0">
            <a:off x="547965" y="1194491"/>
            <a:ext cx="13034962"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Tổng mức độ quan trọng theo Nhóm nguyên nhân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Freeform 4" id="4"/>
          <p:cNvSpPr/>
          <p:nvPr/>
        </p:nvSpPr>
        <p:spPr>
          <a:xfrm flipH="false" flipV="false" rot="0">
            <a:off x="6921196" y="1988648"/>
            <a:ext cx="10338104" cy="7269652"/>
          </a:xfrm>
          <a:custGeom>
            <a:avLst/>
            <a:gdLst/>
            <a:ahLst/>
            <a:cxnLst/>
            <a:rect r="r" b="b" t="t" l="l"/>
            <a:pathLst>
              <a:path h="7269652" w="10338104">
                <a:moveTo>
                  <a:pt x="0" y="0"/>
                </a:moveTo>
                <a:lnTo>
                  <a:pt x="10338104" y="0"/>
                </a:lnTo>
                <a:lnTo>
                  <a:pt x="10338104" y="7269652"/>
                </a:lnTo>
                <a:lnTo>
                  <a:pt x="0" y="7269652"/>
                </a:lnTo>
                <a:lnTo>
                  <a:pt x="0" y="0"/>
                </a:lnTo>
                <a:close/>
              </a:path>
            </a:pathLst>
          </a:custGeom>
          <a:blipFill>
            <a:blip r:embed="rId3"/>
            <a:stretch>
              <a:fillRect l="0" t="0" r="0" b="0"/>
            </a:stretch>
          </a:blipFill>
        </p:spPr>
      </p:sp>
      <p:sp>
        <p:nvSpPr>
          <p:cNvPr name="TextBox 5" id="5"/>
          <p:cNvSpPr txBox="true"/>
          <p:nvPr/>
        </p:nvSpPr>
        <p:spPr>
          <a:xfrm rot="0">
            <a:off x="1028700" y="2255011"/>
            <a:ext cx="5637419" cy="14763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Thống kê theo nhóm Tài chính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descr="A white rectangular frame with green outline  AI-generated content may be incorrect."/>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Freeform 4" id="4"/>
          <p:cNvSpPr/>
          <p:nvPr/>
        </p:nvSpPr>
        <p:spPr>
          <a:xfrm flipH="false" flipV="false" rot="0">
            <a:off x="7034127" y="1332705"/>
            <a:ext cx="10225173" cy="8410135"/>
          </a:xfrm>
          <a:custGeom>
            <a:avLst/>
            <a:gdLst/>
            <a:ahLst/>
            <a:cxnLst/>
            <a:rect r="r" b="b" t="t" l="l"/>
            <a:pathLst>
              <a:path h="8410135" w="10225173">
                <a:moveTo>
                  <a:pt x="0" y="0"/>
                </a:moveTo>
                <a:lnTo>
                  <a:pt x="10225173" y="0"/>
                </a:lnTo>
                <a:lnTo>
                  <a:pt x="10225173" y="8410135"/>
                </a:lnTo>
                <a:lnTo>
                  <a:pt x="0" y="8410135"/>
                </a:lnTo>
                <a:lnTo>
                  <a:pt x="0" y="0"/>
                </a:lnTo>
                <a:close/>
              </a:path>
            </a:pathLst>
          </a:custGeom>
          <a:blipFill>
            <a:blip r:embed="rId3"/>
            <a:stretch>
              <a:fillRect l="0" t="0" r="0" b="0"/>
            </a:stretch>
          </a:blipFill>
        </p:spPr>
      </p:sp>
      <p:sp>
        <p:nvSpPr>
          <p:cNvPr name="TextBox 5" id="5"/>
          <p:cNvSpPr txBox="true"/>
          <p:nvPr/>
        </p:nvSpPr>
        <p:spPr>
          <a:xfrm rot="0">
            <a:off x="1028700" y="1556441"/>
            <a:ext cx="5521523" cy="14763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Thống kê theo nhóm </a:t>
            </a:r>
          </a:p>
          <a:p>
            <a:pPr algn="l">
              <a:lnSpc>
                <a:spcPts val="5759"/>
              </a:lnSpc>
            </a:pPr>
            <a:r>
              <a:rPr lang="en-US" sz="4800" b="true">
                <a:solidFill>
                  <a:srgbClr val="000000"/>
                </a:solidFill>
                <a:latin typeface="Times New Roman Bold"/>
                <a:ea typeface="Times New Roman Bold"/>
                <a:cs typeface="Times New Roman Bold"/>
                <a:sym typeface="Times New Roman Bold"/>
              </a:rPr>
              <a:t>Học lực</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Freeform 4" id="4"/>
          <p:cNvSpPr/>
          <p:nvPr/>
        </p:nvSpPr>
        <p:spPr>
          <a:xfrm flipH="false" flipV="false" rot="0">
            <a:off x="1634819" y="3593985"/>
            <a:ext cx="15018390" cy="1302515"/>
          </a:xfrm>
          <a:custGeom>
            <a:avLst/>
            <a:gdLst/>
            <a:ahLst/>
            <a:cxnLst/>
            <a:rect r="r" b="b" t="t" l="l"/>
            <a:pathLst>
              <a:path h="1302515" w="15018390">
                <a:moveTo>
                  <a:pt x="0" y="0"/>
                </a:moveTo>
                <a:lnTo>
                  <a:pt x="15018390" y="0"/>
                </a:lnTo>
                <a:lnTo>
                  <a:pt x="15018390" y="1302515"/>
                </a:lnTo>
                <a:lnTo>
                  <a:pt x="0" y="1302515"/>
                </a:lnTo>
                <a:lnTo>
                  <a:pt x="0" y="0"/>
                </a:lnTo>
                <a:close/>
              </a:path>
            </a:pathLst>
          </a:custGeom>
          <a:blipFill>
            <a:blip r:embed="rId3"/>
            <a:stretch>
              <a:fillRect l="0" t="0" r="0" b="0"/>
            </a:stretch>
          </a:blipFill>
        </p:spPr>
      </p:sp>
      <p:sp>
        <p:nvSpPr>
          <p:cNvPr name="TextBox 5" id="5"/>
          <p:cNvSpPr txBox="true"/>
          <p:nvPr/>
        </p:nvSpPr>
        <p:spPr>
          <a:xfrm rot="0">
            <a:off x="1349921" y="2168596"/>
            <a:ext cx="7511355"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Kiểm chứng gián tiếp (SMD)</a:t>
            </a:r>
          </a:p>
        </p:txBody>
      </p:sp>
      <p:sp>
        <p:nvSpPr>
          <p:cNvPr name="TextBox 6" id="6"/>
          <p:cNvSpPr txBox="true"/>
          <p:nvPr/>
        </p:nvSpPr>
        <p:spPr>
          <a:xfrm rot="0">
            <a:off x="1349921" y="5544200"/>
            <a:ext cx="10155486" cy="1657350"/>
          </a:xfrm>
          <a:prstGeom prst="rect">
            <a:avLst/>
          </a:prstGeom>
        </p:spPr>
        <p:txBody>
          <a:bodyPr anchor="t" rtlCol="false" tIns="0" lIns="0" bIns="0" rIns="0">
            <a:spAutoFit/>
          </a:bodyPr>
          <a:lstStyle/>
          <a:p>
            <a:pPr algn="l">
              <a:lnSpc>
                <a:spcPts val="4320"/>
              </a:lnSpc>
            </a:pPr>
            <a:r>
              <a:rPr lang="en-US" sz="3600">
                <a:solidFill>
                  <a:srgbClr val="000000"/>
                </a:solidFill>
                <a:latin typeface="Times New Roman"/>
                <a:ea typeface="Times New Roman"/>
                <a:cs typeface="Times New Roman"/>
                <a:sym typeface="Times New Roman"/>
              </a:rPr>
              <a:t>Triển khai mô hình:</a:t>
            </a:r>
          </a:p>
          <a:p>
            <a:pPr algn="l" marL="777240" indent="-388620" lvl="1">
              <a:lnSpc>
                <a:spcPts val="4320"/>
              </a:lnSpc>
              <a:buFont typeface="Arial"/>
              <a:buChar char="•"/>
            </a:pPr>
            <a:r>
              <a:rPr lang="en-US" sz="3600">
                <a:solidFill>
                  <a:srgbClr val="000000"/>
                </a:solidFill>
                <a:latin typeface="Times New Roman"/>
                <a:ea typeface="Times New Roman"/>
                <a:cs typeface="Times New Roman"/>
                <a:sym typeface="Times New Roman"/>
              </a:rPr>
              <a:t>Tính toán xác suất rủi ro</a:t>
            </a:r>
          </a:p>
          <a:p>
            <a:pPr algn="l" marL="777240" indent="-388620" lvl="1">
              <a:lnSpc>
                <a:spcPts val="4320"/>
              </a:lnSpc>
              <a:buFont typeface="Arial"/>
              <a:buChar char="•"/>
            </a:pPr>
            <a:r>
              <a:rPr lang="en-US" sz="3600">
                <a:solidFill>
                  <a:srgbClr val="000000"/>
                </a:solidFill>
                <a:latin typeface="Times New Roman"/>
                <a:ea typeface="Times New Roman"/>
                <a:cs typeface="Times New Roman"/>
                <a:sym typeface="Times New Roman"/>
              </a:rPr>
              <a:t>Lọc nhóm sinh viên "Nguy cơ cao" (top 10%)</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descr="A white rectangular frame with green outline  AI-generated content may be incorrect."/>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Freeform 4" id="4"/>
          <p:cNvSpPr/>
          <p:nvPr/>
        </p:nvSpPr>
        <p:spPr>
          <a:xfrm flipH="false" flipV="false" rot="0">
            <a:off x="518830" y="4088796"/>
            <a:ext cx="17250341" cy="3329291"/>
          </a:xfrm>
          <a:custGeom>
            <a:avLst/>
            <a:gdLst/>
            <a:ahLst/>
            <a:cxnLst/>
            <a:rect r="r" b="b" t="t" l="l"/>
            <a:pathLst>
              <a:path h="3329291" w="17250341">
                <a:moveTo>
                  <a:pt x="0" y="0"/>
                </a:moveTo>
                <a:lnTo>
                  <a:pt x="17250340" y="0"/>
                </a:lnTo>
                <a:lnTo>
                  <a:pt x="17250340" y="3329292"/>
                </a:lnTo>
                <a:lnTo>
                  <a:pt x="0" y="3329292"/>
                </a:lnTo>
                <a:lnTo>
                  <a:pt x="0" y="0"/>
                </a:lnTo>
                <a:close/>
              </a:path>
            </a:pathLst>
          </a:custGeom>
          <a:blipFill>
            <a:blip r:embed="rId3"/>
            <a:stretch>
              <a:fillRect l="-2932" t="0" r="0" b="0"/>
            </a:stretch>
          </a:blipFill>
        </p:spPr>
      </p:sp>
      <p:sp>
        <p:nvSpPr>
          <p:cNvPr name="TextBox 5" id="5"/>
          <p:cNvSpPr txBox="true"/>
          <p:nvPr/>
        </p:nvSpPr>
        <p:spPr>
          <a:xfrm rot="0">
            <a:off x="1349921" y="2168596"/>
            <a:ext cx="7511355"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Kiểm chứng gián tiếp (SMD)</a:t>
            </a:r>
          </a:p>
        </p:txBody>
      </p:sp>
      <p:sp>
        <p:nvSpPr>
          <p:cNvPr name="TextBox 6" id="6"/>
          <p:cNvSpPr txBox="true"/>
          <p:nvPr/>
        </p:nvSpPr>
        <p:spPr>
          <a:xfrm rot="0">
            <a:off x="1349921" y="3204896"/>
            <a:ext cx="3755678" cy="571500"/>
          </a:xfrm>
          <a:prstGeom prst="rect">
            <a:avLst/>
          </a:prstGeom>
        </p:spPr>
        <p:txBody>
          <a:bodyPr anchor="t" rtlCol="false" tIns="0" lIns="0" bIns="0" rIns="0">
            <a:spAutoFit/>
          </a:bodyPr>
          <a:lstStyle/>
          <a:p>
            <a:pPr algn="l">
              <a:lnSpc>
                <a:spcPts val="4320"/>
              </a:lnSpc>
            </a:pPr>
            <a:r>
              <a:rPr lang="en-US" sz="3600">
                <a:solidFill>
                  <a:srgbClr val="000000"/>
                </a:solidFill>
                <a:latin typeface="Times New Roman"/>
                <a:ea typeface="Times New Roman"/>
                <a:cs typeface="Times New Roman"/>
                <a:sym typeface="Times New Roman"/>
              </a:rPr>
              <a:t>Model Validation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Freeform 4" id="4"/>
          <p:cNvSpPr/>
          <p:nvPr/>
        </p:nvSpPr>
        <p:spPr>
          <a:xfrm flipH="false" flipV="false" rot="0">
            <a:off x="2088526" y="3314108"/>
            <a:ext cx="13545500" cy="6366385"/>
          </a:xfrm>
          <a:custGeom>
            <a:avLst/>
            <a:gdLst/>
            <a:ahLst/>
            <a:cxnLst/>
            <a:rect r="r" b="b" t="t" l="l"/>
            <a:pathLst>
              <a:path h="6366385" w="13545500">
                <a:moveTo>
                  <a:pt x="0" y="0"/>
                </a:moveTo>
                <a:lnTo>
                  <a:pt x="13545501" y="0"/>
                </a:lnTo>
                <a:lnTo>
                  <a:pt x="13545501" y="6366386"/>
                </a:lnTo>
                <a:lnTo>
                  <a:pt x="0" y="6366386"/>
                </a:lnTo>
                <a:lnTo>
                  <a:pt x="0" y="0"/>
                </a:lnTo>
                <a:close/>
              </a:path>
            </a:pathLst>
          </a:custGeom>
          <a:blipFill>
            <a:blip r:embed="rId3"/>
            <a:stretch>
              <a:fillRect l="0" t="0" r="0" b="0"/>
            </a:stretch>
          </a:blipFill>
        </p:spPr>
      </p:sp>
      <p:sp>
        <p:nvSpPr>
          <p:cNvPr name="TextBox 5" id="5"/>
          <p:cNvSpPr txBox="true"/>
          <p:nvPr/>
        </p:nvSpPr>
        <p:spPr>
          <a:xfrm rot="0">
            <a:off x="1349921" y="2168596"/>
            <a:ext cx="7511355"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Kiểm chứng gián tiếp (SMD)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descr="A white rectangular frame with green outline  AI-generated content may be incorrect."/>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TextBox 4" id="4"/>
          <p:cNvSpPr txBox="true"/>
          <p:nvPr/>
        </p:nvSpPr>
        <p:spPr>
          <a:xfrm rot="0">
            <a:off x="1028700" y="3333486"/>
            <a:ext cx="4514850"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Ý nghĩa thực tiễn</a:t>
            </a:r>
          </a:p>
        </p:txBody>
      </p:sp>
      <p:sp>
        <p:nvSpPr>
          <p:cNvPr name="TextBox 5" id="5"/>
          <p:cNvSpPr txBox="true"/>
          <p:nvPr/>
        </p:nvSpPr>
        <p:spPr>
          <a:xfrm rot="0">
            <a:off x="2495021" y="4649685"/>
            <a:ext cx="13297958" cy="2743200"/>
          </a:xfrm>
          <a:prstGeom prst="rect">
            <a:avLst/>
          </a:prstGeom>
        </p:spPr>
        <p:txBody>
          <a:bodyPr anchor="t" rtlCol="false" tIns="0" lIns="0" bIns="0" rIns="0">
            <a:spAutoFit/>
          </a:bodyPr>
          <a:lstStyle/>
          <a:p>
            <a:pPr algn="l" marL="777240" indent="-388620" lvl="1">
              <a:lnSpc>
                <a:spcPts val="4320"/>
              </a:lnSpc>
              <a:buFont typeface="Arial"/>
              <a:buChar char="•"/>
            </a:pPr>
            <a:r>
              <a:rPr lang="en-US" b="true" sz="3600">
                <a:solidFill>
                  <a:srgbClr val="000000"/>
                </a:solidFill>
                <a:latin typeface="Times New Roman Bold"/>
                <a:ea typeface="Times New Roman Bold"/>
                <a:cs typeface="Times New Roman Bold"/>
                <a:sym typeface="Times New Roman Bold"/>
              </a:rPr>
              <a:t>Xây dựng "Hệ thống cảnh báo sớm" mang tính chủ động:</a:t>
            </a:r>
            <a:r>
              <a:rPr lang="en-US" sz="3600">
                <a:solidFill>
                  <a:srgbClr val="000000"/>
                </a:solidFill>
                <a:latin typeface="Times New Roman"/>
                <a:ea typeface="Times New Roman"/>
                <a:cs typeface="Times New Roman"/>
                <a:sym typeface="Times New Roman"/>
              </a:rPr>
              <a:t> Thay vì chỉ thống kê số lượng sinh viên bỏ học một cách thụ động, nghiên cứu cung cấp một hệ thống dự báo ngay lập tức mức độ rủi ro cho sinh viên đang theo học.</a:t>
            </a:r>
          </a:p>
          <a:p>
            <a:pPr algn="l" marL="777240" indent="-388620" lvl="1">
              <a:lnSpc>
                <a:spcPts val="4320"/>
              </a:lnSpc>
              <a:buFont typeface="Arial"/>
              <a:buChar char="•"/>
            </a:pPr>
            <a:r>
              <a:rPr lang="en-US" b="true" sz="3600">
                <a:solidFill>
                  <a:srgbClr val="000000"/>
                </a:solidFill>
                <a:latin typeface="Times New Roman Bold"/>
                <a:ea typeface="Times New Roman Bold"/>
                <a:cs typeface="Times New Roman Bold"/>
                <a:sym typeface="Times New Roman Bold"/>
              </a:rPr>
              <a:t>Thiết kế chính sách can thiệp</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TextBox 4" id="4"/>
          <p:cNvSpPr txBox="true"/>
          <p:nvPr/>
        </p:nvSpPr>
        <p:spPr>
          <a:xfrm rot="0">
            <a:off x="1028700" y="1981434"/>
            <a:ext cx="2252365"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Kết luận</a:t>
            </a:r>
          </a:p>
        </p:txBody>
      </p:sp>
      <p:sp>
        <p:nvSpPr>
          <p:cNvPr name="TextBox 5" id="5"/>
          <p:cNvSpPr txBox="true"/>
          <p:nvPr/>
        </p:nvSpPr>
        <p:spPr>
          <a:xfrm rot="0">
            <a:off x="1831157" y="4134812"/>
            <a:ext cx="14625714" cy="3829050"/>
          </a:xfrm>
          <a:prstGeom prst="rect">
            <a:avLst/>
          </a:prstGeom>
        </p:spPr>
        <p:txBody>
          <a:bodyPr anchor="t" rtlCol="false" tIns="0" lIns="0" bIns="0" rIns="0">
            <a:spAutoFit/>
          </a:bodyPr>
          <a:lstStyle/>
          <a:p>
            <a:pPr algn="l" marL="777240" indent="-388620" lvl="1">
              <a:lnSpc>
                <a:spcPts val="4320"/>
              </a:lnSpc>
              <a:buFont typeface="Arial"/>
              <a:buChar char="•"/>
            </a:pPr>
            <a:r>
              <a:rPr lang="en-US" b="true" sz="3600">
                <a:solidFill>
                  <a:srgbClr val="000000"/>
                </a:solidFill>
                <a:latin typeface="Times New Roman Bold"/>
                <a:ea typeface="Times New Roman Bold"/>
                <a:cs typeface="Times New Roman Bold"/>
                <a:sym typeface="Times New Roman Bold"/>
              </a:rPr>
              <a:t>Hiệu năng vượt trội và ổn định: </a:t>
            </a:r>
            <a:r>
              <a:rPr lang="en-US" sz="3600">
                <a:solidFill>
                  <a:srgbClr val="000000"/>
                </a:solidFill>
                <a:latin typeface="Times New Roman"/>
                <a:ea typeface="Times New Roman"/>
                <a:cs typeface="Times New Roman"/>
                <a:sym typeface="Times New Roman"/>
              </a:rPr>
              <a:t>mô hình Logistic Regression đã chứng minh được sức mạnh phân loại xuất sắc và ổn định nhất để dự báo rủi ro thôi học, đạt chỉ số </a:t>
            </a:r>
            <a:r>
              <a:rPr lang="en-US" b="true" sz="3600">
                <a:solidFill>
                  <a:srgbClr val="000000"/>
                </a:solidFill>
                <a:latin typeface="Times New Roman Bold"/>
                <a:ea typeface="Times New Roman Bold"/>
                <a:cs typeface="Times New Roman Bold"/>
                <a:sym typeface="Times New Roman Bold"/>
              </a:rPr>
              <a:t>ROC-AUC xấp xỉ 0.976</a:t>
            </a:r>
            <a:r>
              <a:rPr lang="en-US" sz="3600">
                <a:solidFill>
                  <a:srgbClr val="000000"/>
                </a:solidFill>
                <a:latin typeface="Times New Roman"/>
                <a:ea typeface="Times New Roman"/>
                <a:cs typeface="Times New Roman"/>
                <a:sym typeface="Times New Roman"/>
              </a:rPr>
              <a:t> và </a:t>
            </a:r>
            <a:r>
              <a:rPr lang="en-US" b="true" sz="3600">
                <a:solidFill>
                  <a:srgbClr val="000000"/>
                </a:solidFill>
                <a:latin typeface="Times New Roman Bold"/>
                <a:ea typeface="Times New Roman Bold"/>
                <a:cs typeface="Times New Roman Bold"/>
                <a:sym typeface="Times New Roman Bold"/>
              </a:rPr>
              <a:t>PR-AUC xấp xỉ 0.9735.</a:t>
            </a:r>
          </a:p>
          <a:p>
            <a:pPr algn="l" marL="777240" indent="-388620" lvl="1">
              <a:lnSpc>
                <a:spcPts val="4320"/>
              </a:lnSpc>
              <a:buFont typeface="Arial"/>
              <a:buChar char="•"/>
            </a:pPr>
            <a:r>
              <a:rPr lang="en-US" b="true" sz="3600">
                <a:solidFill>
                  <a:srgbClr val="000000"/>
                </a:solidFill>
                <a:latin typeface="Times New Roman Bold"/>
                <a:ea typeface="Times New Roman Bold"/>
                <a:cs typeface="Times New Roman Bold"/>
                <a:sym typeface="Times New Roman Bold"/>
              </a:rPr>
              <a:t>Hệ thống xử lý chuẩn hóa:</a:t>
            </a:r>
            <a:r>
              <a:rPr lang="en-US" sz="3600">
                <a:solidFill>
                  <a:srgbClr val="000000"/>
                </a:solidFill>
                <a:latin typeface="Times New Roman"/>
                <a:ea typeface="Times New Roman"/>
                <a:cs typeface="Times New Roman"/>
                <a:sym typeface="Times New Roman"/>
              </a:rPr>
              <a:t> Toàn bộ dữ liệu được tự động hóa qua hệ thống Pipeline</a:t>
            </a:r>
            <a:r>
              <a:rPr lang="en-US" sz="3600">
                <a:solidFill>
                  <a:srgbClr val="000000"/>
                </a:solidFill>
                <a:latin typeface="Times New Roman"/>
                <a:ea typeface="Times New Roman"/>
                <a:cs typeface="Times New Roman"/>
                <a:sym typeface="Times New Roman"/>
              </a:rPr>
              <a:t> giúp tối ưu hóa thuật toán dự báo cho nhóm sinh viên đang theo học (Enrolled).</a:t>
            </a:r>
          </a:p>
          <a:p>
            <a:pPr algn="l">
              <a:lnSpc>
                <a:spcPts val="4320"/>
              </a:lnSpc>
            </a:pPr>
            <a:r>
              <a:rPr lang="en-US" sz="3600">
                <a:solidFill>
                  <a:srgbClr val="000000"/>
                </a:solidFill>
                <a:latin typeface="Times New Roman"/>
                <a:ea typeface="Times New Roman"/>
                <a:cs typeface="Times New Roman"/>
                <a:sym typeface="Times New Roman"/>
              </a:rPr>
              <a:t>=&gt; Có thể phát triển thành mô hình nhẹ chạy ổn định đưa vào sử dụng rộng rãi.</a:t>
            </a:r>
          </a:p>
        </p:txBody>
      </p:sp>
      <p:sp>
        <p:nvSpPr>
          <p:cNvPr name="TextBox 6" id="6"/>
          <p:cNvSpPr txBox="true"/>
          <p:nvPr/>
        </p:nvSpPr>
        <p:spPr>
          <a:xfrm rot="0">
            <a:off x="1831143" y="3115637"/>
            <a:ext cx="3512840" cy="638175"/>
          </a:xfrm>
          <a:prstGeom prst="rect">
            <a:avLst/>
          </a:prstGeom>
        </p:spPr>
        <p:txBody>
          <a:bodyPr anchor="t" rtlCol="false" tIns="0" lIns="0" bIns="0" rIns="0">
            <a:spAutoFit/>
          </a:bodyPr>
          <a:lstStyle/>
          <a:p>
            <a:pPr algn="l">
              <a:lnSpc>
                <a:spcPts val="4800"/>
              </a:lnSpc>
            </a:pPr>
            <a:r>
              <a:rPr lang="en-US" sz="4000">
                <a:solidFill>
                  <a:srgbClr val="000000"/>
                </a:solidFill>
                <a:latin typeface="Times New Roman"/>
                <a:ea typeface="Times New Roman"/>
                <a:cs typeface="Times New Roman"/>
                <a:sym typeface="Times New Roman"/>
              </a:rPr>
              <a:t>Kết luận kỹ thuật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TextBox 4" id="4"/>
          <p:cNvSpPr txBox="true"/>
          <p:nvPr/>
        </p:nvSpPr>
        <p:spPr>
          <a:xfrm rot="0">
            <a:off x="1028700" y="2136880"/>
            <a:ext cx="2252365"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Kết luận</a:t>
            </a:r>
          </a:p>
        </p:txBody>
      </p:sp>
      <p:sp>
        <p:nvSpPr>
          <p:cNvPr name="TextBox 5" id="5"/>
          <p:cNvSpPr txBox="true"/>
          <p:nvPr/>
        </p:nvSpPr>
        <p:spPr>
          <a:xfrm rot="0">
            <a:off x="1667977" y="4208208"/>
            <a:ext cx="14952075" cy="4371975"/>
          </a:xfrm>
          <a:prstGeom prst="rect">
            <a:avLst/>
          </a:prstGeom>
        </p:spPr>
        <p:txBody>
          <a:bodyPr anchor="t" rtlCol="false" tIns="0" lIns="0" bIns="0" rIns="0">
            <a:spAutoFit/>
          </a:bodyPr>
          <a:lstStyle/>
          <a:p>
            <a:pPr algn="l" marL="777240" indent="-388620" lvl="1">
              <a:lnSpc>
                <a:spcPts val="4320"/>
              </a:lnSpc>
              <a:buFont typeface="Arial"/>
              <a:buChar char="•"/>
            </a:pPr>
            <a:r>
              <a:rPr lang="en-US" sz="3600">
                <a:solidFill>
                  <a:srgbClr val="000000"/>
                </a:solidFill>
                <a:latin typeface="Times New Roman"/>
                <a:ea typeface="Times New Roman"/>
                <a:cs typeface="Times New Roman"/>
                <a:sym typeface="Times New Roman"/>
              </a:rPr>
              <a:t>Phân tích định lượng xác nhận tác động mạnh mẽ của hai yếu tố tài chính và học thuật.</a:t>
            </a:r>
          </a:p>
          <a:p>
            <a:pPr algn="l" marL="777240" indent="-388620" lvl="1">
              <a:lnSpc>
                <a:spcPts val="4320"/>
              </a:lnSpc>
              <a:buFont typeface="Arial"/>
              <a:buChar char="•"/>
            </a:pPr>
            <a:r>
              <a:rPr lang="en-US" b="true" sz="3600">
                <a:solidFill>
                  <a:srgbClr val="000000"/>
                </a:solidFill>
                <a:latin typeface="Times New Roman Bold"/>
                <a:ea typeface="Times New Roman Bold"/>
                <a:cs typeface="Times New Roman Bold"/>
                <a:sym typeface="Times New Roman Bold"/>
              </a:rPr>
              <a:t>Tỷ lệ thôi học tăng vọt</a:t>
            </a:r>
            <a:r>
              <a:rPr lang="en-US" sz="3600">
                <a:solidFill>
                  <a:srgbClr val="000000"/>
                </a:solidFill>
                <a:latin typeface="Times New Roman"/>
                <a:ea typeface="Times New Roman"/>
                <a:cs typeface="Times New Roman"/>
                <a:sym typeface="Times New Roman"/>
              </a:rPr>
              <a:t> chạm mức </a:t>
            </a:r>
            <a:r>
              <a:rPr lang="en-US" b="true" sz="3600">
                <a:solidFill>
                  <a:srgbClr val="000000"/>
                </a:solidFill>
                <a:latin typeface="Times New Roman Bold"/>
                <a:ea typeface="Times New Roman Bold"/>
                <a:cs typeface="Times New Roman Bold"/>
                <a:sym typeface="Times New Roman Bold"/>
              </a:rPr>
              <a:t>90% – 98%</a:t>
            </a:r>
            <a:r>
              <a:rPr lang="en-US" sz="3600">
                <a:solidFill>
                  <a:srgbClr val="000000"/>
                </a:solidFill>
                <a:latin typeface="Times New Roman"/>
                <a:ea typeface="Times New Roman"/>
                <a:cs typeface="Times New Roman"/>
                <a:sym typeface="Times New Roman"/>
              </a:rPr>
              <a:t> đối với những sinh viên mang </a:t>
            </a:r>
            <a:r>
              <a:rPr lang="en-US" b="true" sz="3600">
                <a:solidFill>
                  <a:srgbClr val="000000"/>
                </a:solidFill>
                <a:latin typeface="Times New Roman Bold"/>
                <a:ea typeface="Times New Roman Bold"/>
                <a:cs typeface="Times New Roman Bold"/>
                <a:sym typeface="Times New Roman Bold"/>
              </a:rPr>
              <a:t>dư nợ học phí </a:t>
            </a:r>
            <a:r>
              <a:rPr lang="en-US" sz="3600">
                <a:solidFill>
                  <a:srgbClr val="000000"/>
                </a:solidFill>
                <a:latin typeface="Times New Roman"/>
                <a:ea typeface="Times New Roman"/>
                <a:cs typeface="Times New Roman"/>
                <a:sym typeface="Times New Roman"/>
              </a:rPr>
              <a:t>hoặc không vượt qua </a:t>
            </a:r>
            <a:r>
              <a:rPr lang="en-US" b="true" sz="3600">
                <a:solidFill>
                  <a:srgbClr val="000000"/>
                </a:solidFill>
                <a:latin typeface="Times New Roman Bold"/>
                <a:ea typeface="Times New Roman Bold"/>
                <a:cs typeface="Times New Roman Bold"/>
                <a:sym typeface="Times New Roman Bold"/>
              </a:rPr>
              <a:t>phần lớn các học phần kỳ 2.</a:t>
            </a:r>
          </a:p>
          <a:p>
            <a:pPr algn="l" marL="777240" indent="-388620" lvl="1">
              <a:lnSpc>
                <a:spcPts val="4320"/>
              </a:lnSpc>
              <a:buFont typeface="Arial"/>
              <a:buChar char="•"/>
            </a:pPr>
            <a:r>
              <a:rPr lang="en-US" b="true" sz="3600">
                <a:solidFill>
                  <a:srgbClr val="000000"/>
                </a:solidFill>
                <a:latin typeface="Times New Roman Bold"/>
                <a:ea typeface="Times New Roman Bold"/>
                <a:cs typeface="Times New Roman Bold"/>
                <a:sym typeface="Times New Roman Bold"/>
              </a:rPr>
              <a:t>Nhu cầu nghiên cứu:</a:t>
            </a:r>
            <a:r>
              <a:rPr lang="en-US" sz="3600">
                <a:solidFill>
                  <a:srgbClr val="000000"/>
                </a:solidFill>
                <a:latin typeface="Times New Roman"/>
                <a:ea typeface="Times New Roman"/>
                <a:cs typeface="Times New Roman"/>
                <a:sym typeface="Times New Roman"/>
              </a:rPr>
              <a:t> Thực trạng này cho thấy thôi học đã thực sự trở thành một vấn đề thách thức đối với hiệu quả đào tạo. Do đó, lĩnh vực này cần thêm các nghiên cứu sâu rộng nhằm thiết kế các chính sách tư vấn và hỗ trợ toàn diện.</a:t>
            </a:r>
          </a:p>
        </p:txBody>
      </p:sp>
      <p:sp>
        <p:nvSpPr>
          <p:cNvPr name="TextBox 6" id="6"/>
          <p:cNvSpPr txBox="true"/>
          <p:nvPr/>
        </p:nvSpPr>
        <p:spPr>
          <a:xfrm rot="0">
            <a:off x="2154882" y="3131071"/>
            <a:ext cx="5367735" cy="638175"/>
          </a:xfrm>
          <a:prstGeom prst="rect">
            <a:avLst/>
          </a:prstGeom>
        </p:spPr>
        <p:txBody>
          <a:bodyPr anchor="t" rtlCol="false" tIns="0" lIns="0" bIns="0" rIns="0">
            <a:spAutoFit/>
          </a:bodyPr>
          <a:lstStyle/>
          <a:p>
            <a:pPr algn="l" marL="0" indent="0" lvl="0">
              <a:lnSpc>
                <a:spcPts val="4800"/>
              </a:lnSpc>
              <a:spcBef>
                <a:spcPct val="0"/>
              </a:spcBef>
            </a:pPr>
            <a:r>
              <a:rPr lang="en-US" sz="4000" strike="noStrike" u="none">
                <a:solidFill>
                  <a:srgbClr val="000000"/>
                </a:solidFill>
                <a:latin typeface="Times New Roman"/>
                <a:ea typeface="Times New Roman"/>
                <a:cs typeface="Times New Roman"/>
                <a:sym typeface="Times New Roman"/>
              </a:rPr>
              <a:t>Thực trạng Tỷ lệ Thôi học</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TextBox 4" id="4"/>
          <p:cNvSpPr txBox="true"/>
          <p:nvPr/>
        </p:nvSpPr>
        <p:spPr>
          <a:xfrm rot="0">
            <a:off x="1028700" y="3068738"/>
            <a:ext cx="2252365" cy="752475"/>
          </a:xfrm>
          <a:prstGeom prst="rect">
            <a:avLst/>
          </a:prstGeom>
        </p:spPr>
        <p:txBody>
          <a:bodyPr anchor="t" rtlCol="false" tIns="0" lIns="0" bIns="0" rIns="0">
            <a:spAutoFit/>
          </a:bodyPr>
          <a:lstStyle/>
          <a:p>
            <a:pPr algn="l">
              <a:lnSpc>
                <a:spcPts val="5759"/>
              </a:lnSpc>
            </a:pPr>
            <a:r>
              <a:rPr lang="en-US" sz="4800" b="true">
                <a:solidFill>
                  <a:srgbClr val="000000"/>
                </a:solidFill>
                <a:latin typeface="Times New Roman Bold"/>
                <a:ea typeface="Times New Roman Bold"/>
                <a:cs typeface="Times New Roman Bold"/>
                <a:sym typeface="Times New Roman Bold"/>
              </a:rPr>
              <a:t>Kết luận</a:t>
            </a:r>
          </a:p>
        </p:txBody>
      </p:sp>
      <p:sp>
        <p:nvSpPr>
          <p:cNvPr name="TextBox 5" id="5"/>
          <p:cNvSpPr txBox="true"/>
          <p:nvPr/>
        </p:nvSpPr>
        <p:spPr>
          <a:xfrm rot="0">
            <a:off x="2487006" y="4433078"/>
            <a:ext cx="13313988" cy="1704975"/>
          </a:xfrm>
          <a:prstGeom prst="rect">
            <a:avLst/>
          </a:prstGeom>
        </p:spPr>
        <p:txBody>
          <a:bodyPr anchor="t" rtlCol="false" tIns="0" lIns="0" bIns="0" rIns="0">
            <a:spAutoFit/>
          </a:bodyPr>
          <a:lstStyle/>
          <a:p>
            <a:pPr algn="just">
              <a:lnSpc>
                <a:spcPts val="4455"/>
              </a:lnSpc>
            </a:pPr>
            <a:r>
              <a:rPr lang="en-US" sz="3713">
                <a:solidFill>
                  <a:srgbClr val="000000"/>
                </a:solidFill>
                <a:latin typeface="Times New Roman"/>
                <a:ea typeface="Times New Roman"/>
                <a:cs typeface="Times New Roman"/>
                <a:sym typeface="Times New Roman"/>
              </a:rPr>
              <a:t>Hệ thống cảnh báo đối với top 10% sinh viên có rủi ro gần như đồng nhất với nhóm đã bỏ học thực tế (|SMD| ~ 0.012 đối với điểm số học kỳ 2) và tách biệt với nhóm đã tốt nghiệp (|SMD| &gt; 1.5)</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descr="A white rectangular frame with green text  AI-generated content may be incorrect."/>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TextBox 4" id="4"/>
          <p:cNvSpPr txBox="true"/>
          <p:nvPr/>
        </p:nvSpPr>
        <p:spPr>
          <a:xfrm rot="0">
            <a:off x="2606397" y="4173116"/>
            <a:ext cx="13075207" cy="1902669"/>
          </a:xfrm>
          <a:prstGeom prst="rect">
            <a:avLst/>
          </a:prstGeom>
        </p:spPr>
        <p:txBody>
          <a:bodyPr anchor="t" rtlCol="false" tIns="0" lIns="0" bIns="0" rIns="0">
            <a:spAutoFit/>
          </a:bodyPr>
          <a:lstStyle/>
          <a:p>
            <a:pPr algn="ctr">
              <a:lnSpc>
                <a:spcPts val="7404"/>
              </a:lnSpc>
            </a:pPr>
            <a:r>
              <a:rPr lang="en-US" sz="6170" b="true">
                <a:solidFill>
                  <a:srgbClr val="000000"/>
                </a:solidFill>
                <a:latin typeface="Times New Roman Bold"/>
                <a:ea typeface="Times New Roman Bold"/>
                <a:cs typeface="Times New Roman Bold"/>
                <a:sym typeface="Times New Roman Bold"/>
              </a:rPr>
              <a:t>Cảm ơn quý thầy cô và quý bạn nghiên cứu đã lắng nghe!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9" y="1924"/>
            <a:ext cx="18287971" cy="10285076"/>
            <a:chOff x="0" y="0"/>
            <a:chExt cx="24383962" cy="13713435"/>
          </a:xfrm>
        </p:grpSpPr>
        <p:sp>
          <p:nvSpPr>
            <p:cNvPr name="Freeform 3" id="3" descr="A white rectangular frame with green text  AI-generated content may be incorrect."/>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2"/>
              <a:stretch>
                <a:fillRect l="0" t="0" r="-12" b="-18"/>
              </a:stretch>
            </a:blipFill>
          </p:spPr>
        </p:sp>
      </p:grpSp>
      <p:sp>
        <p:nvSpPr>
          <p:cNvPr name="Freeform 4" id="4"/>
          <p:cNvSpPr/>
          <p:nvPr/>
        </p:nvSpPr>
        <p:spPr>
          <a:xfrm flipH="false" flipV="false" rot="0">
            <a:off x="7881271" y="3086100"/>
            <a:ext cx="2525458" cy="4114800"/>
          </a:xfrm>
          <a:custGeom>
            <a:avLst/>
            <a:gdLst/>
            <a:ahLst/>
            <a:cxnLst/>
            <a:rect r="r" b="b" t="t" l="l"/>
            <a:pathLst>
              <a:path h="4114800" w="2525458">
                <a:moveTo>
                  <a:pt x="0" y="0"/>
                </a:moveTo>
                <a:lnTo>
                  <a:pt x="2525458" y="0"/>
                </a:lnTo>
                <a:lnTo>
                  <a:pt x="252545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DAHDyQ_fnUY</dc:identifier>
  <dcterms:modified xsi:type="dcterms:W3CDTF">2011-08-01T06:04:30Z</dcterms:modified>
  <cp:revision>1</cp:revision>
  <dc:title>PDHT_PPT_SVNCKH.pptx</dc:title>
</cp:coreProperties>
</file>